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NEELESH" userId="beddf5e7c46d7a35" providerId="LiveId" clId="{D636C9A7-E982-4436-A96C-F1667D1B266B}"/>
    <pc:docChg chg="custSel modSld sldOrd">
      <pc:chgData name="K NEELESH" userId="beddf5e7c46d7a35" providerId="LiveId" clId="{D636C9A7-E982-4436-A96C-F1667D1B266B}" dt="2026-02-13T07:28:02.393" v="25"/>
      <pc:docMkLst>
        <pc:docMk/>
      </pc:docMkLst>
      <pc:sldChg chg="modSp mod">
        <pc:chgData name="K NEELESH" userId="beddf5e7c46d7a35" providerId="LiveId" clId="{D636C9A7-E982-4436-A96C-F1667D1B266B}" dt="2026-02-13T07:27:34.137" v="20" actId="27636"/>
        <pc:sldMkLst>
          <pc:docMk/>
          <pc:sldMk cId="2400122706" sldId="256"/>
        </pc:sldMkLst>
        <pc:spChg chg="mod">
          <ac:chgData name="K NEELESH" userId="beddf5e7c46d7a35" providerId="LiveId" clId="{D636C9A7-E982-4436-A96C-F1667D1B266B}" dt="2026-02-13T07:27:34.137" v="20" actId="27636"/>
          <ac:spMkLst>
            <pc:docMk/>
            <pc:sldMk cId="2400122706" sldId="256"/>
            <ac:spMk id="3" creationId="{C7E2C1D2-8F7D-79BF-9006-95EFB14A6904}"/>
          </ac:spMkLst>
        </pc:spChg>
      </pc:sldChg>
      <pc:sldChg chg="modSp mod">
        <pc:chgData name="K NEELESH" userId="beddf5e7c46d7a35" providerId="LiveId" clId="{D636C9A7-E982-4436-A96C-F1667D1B266B}" dt="2026-02-13T07:27:34.137" v="21" actId="27636"/>
        <pc:sldMkLst>
          <pc:docMk/>
          <pc:sldMk cId="1035407524" sldId="257"/>
        </pc:sldMkLst>
        <pc:spChg chg="mod">
          <ac:chgData name="K NEELESH" userId="beddf5e7c46d7a35" providerId="LiveId" clId="{D636C9A7-E982-4436-A96C-F1667D1B266B}" dt="2026-02-13T07:27:34.137" v="21" actId="27636"/>
          <ac:spMkLst>
            <pc:docMk/>
            <pc:sldMk cId="1035407524" sldId="257"/>
            <ac:spMk id="3" creationId="{50B34E7F-0096-2EE4-0870-0E419F62EF07}"/>
          </ac:spMkLst>
        </pc:spChg>
      </pc:sldChg>
      <pc:sldChg chg="modSp mod">
        <pc:chgData name="K NEELESH" userId="beddf5e7c46d7a35" providerId="LiveId" clId="{D636C9A7-E982-4436-A96C-F1667D1B266B}" dt="2026-02-13T07:27:34.082" v="14" actId="27636"/>
        <pc:sldMkLst>
          <pc:docMk/>
          <pc:sldMk cId="1748038686" sldId="259"/>
        </pc:sldMkLst>
        <pc:spChg chg="mod">
          <ac:chgData name="K NEELESH" userId="beddf5e7c46d7a35" providerId="LiveId" clId="{D636C9A7-E982-4436-A96C-F1667D1B266B}" dt="2026-02-13T07:26:09.454" v="2" actId="27636"/>
          <ac:spMkLst>
            <pc:docMk/>
            <pc:sldMk cId="1748038686" sldId="259"/>
            <ac:spMk id="2" creationId="{96C2E0DD-0FDE-A5C1-A075-FE7F8A27FE93}"/>
          </ac:spMkLst>
        </pc:spChg>
        <pc:spChg chg="mod">
          <ac:chgData name="K NEELESH" userId="beddf5e7c46d7a35" providerId="LiveId" clId="{D636C9A7-E982-4436-A96C-F1667D1B266B}" dt="2026-02-13T07:27:34.082" v="14" actId="27636"/>
          <ac:spMkLst>
            <pc:docMk/>
            <pc:sldMk cId="1748038686" sldId="259"/>
            <ac:spMk id="3" creationId="{C099D67E-7572-EA20-E627-A5982BAEDE2C}"/>
          </ac:spMkLst>
        </pc:spChg>
      </pc:sldChg>
      <pc:sldChg chg="modSp mod">
        <pc:chgData name="K NEELESH" userId="beddf5e7c46d7a35" providerId="LiveId" clId="{D636C9A7-E982-4436-A96C-F1667D1B266B}" dt="2026-02-13T07:27:34.105" v="15" actId="27636"/>
        <pc:sldMkLst>
          <pc:docMk/>
          <pc:sldMk cId="2028148979" sldId="260"/>
        </pc:sldMkLst>
        <pc:spChg chg="mod">
          <ac:chgData name="K NEELESH" userId="beddf5e7c46d7a35" providerId="LiveId" clId="{D636C9A7-E982-4436-A96C-F1667D1B266B}" dt="2026-02-13T07:26:09.454" v="4" actId="27636"/>
          <ac:spMkLst>
            <pc:docMk/>
            <pc:sldMk cId="2028148979" sldId="260"/>
            <ac:spMk id="2" creationId="{01C7D459-3F26-E427-95B9-BCDA12393388}"/>
          </ac:spMkLst>
        </pc:spChg>
        <pc:spChg chg="mod">
          <ac:chgData name="K NEELESH" userId="beddf5e7c46d7a35" providerId="LiveId" clId="{D636C9A7-E982-4436-A96C-F1667D1B266B}" dt="2026-02-13T07:27:34.105" v="15" actId="27636"/>
          <ac:spMkLst>
            <pc:docMk/>
            <pc:sldMk cId="2028148979" sldId="260"/>
            <ac:spMk id="3" creationId="{97CEFDA2-2021-E193-B6B5-49341191270B}"/>
          </ac:spMkLst>
        </pc:spChg>
      </pc:sldChg>
      <pc:sldChg chg="modSp mod">
        <pc:chgData name="K NEELESH" userId="beddf5e7c46d7a35" providerId="LiveId" clId="{D636C9A7-E982-4436-A96C-F1667D1B266B}" dt="2026-02-13T07:27:34.116" v="16" actId="27636"/>
        <pc:sldMkLst>
          <pc:docMk/>
          <pc:sldMk cId="3481554185" sldId="261"/>
        </pc:sldMkLst>
        <pc:spChg chg="mod">
          <ac:chgData name="K NEELESH" userId="beddf5e7c46d7a35" providerId="LiveId" clId="{D636C9A7-E982-4436-A96C-F1667D1B266B}" dt="2026-02-13T07:27:34.116" v="16" actId="27636"/>
          <ac:spMkLst>
            <pc:docMk/>
            <pc:sldMk cId="3481554185" sldId="261"/>
            <ac:spMk id="3" creationId="{989490BC-3C89-EADC-EC18-89F9D6E62208}"/>
          </ac:spMkLst>
        </pc:spChg>
      </pc:sldChg>
      <pc:sldChg chg="modSp mod">
        <pc:chgData name="K NEELESH" userId="beddf5e7c46d7a35" providerId="LiveId" clId="{D636C9A7-E982-4436-A96C-F1667D1B266B}" dt="2026-02-13T07:27:34.123" v="17" actId="27636"/>
        <pc:sldMkLst>
          <pc:docMk/>
          <pc:sldMk cId="104777222" sldId="262"/>
        </pc:sldMkLst>
        <pc:spChg chg="mod">
          <ac:chgData name="K NEELESH" userId="beddf5e7c46d7a35" providerId="LiveId" clId="{D636C9A7-E982-4436-A96C-F1667D1B266B}" dt="2026-02-13T07:27:34.123" v="17" actId="27636"/>
          <ac:spMkLst>
            <pc:docMk/>
            <pc:sldMk cId="104777222" sldId="262"/>
            <ac:spMk id="3" creationId="{0D2AE9CC-32F4-C2F0-D196-AFB49B52B574}"/>
          </ac:spMkLst>
        </pc:spChg>
      </pc:sldChg>
      <pc:sldChg chg="modSp mod">
        <pc:chgData name="K NEELESH" userId="beddf5e7c46d7a35" providerId="LiveId" clId="{D636C9A7-E982-4436-A96C-F1667D1B266B}" dt="2026-02-13T07:27:34.123" v="18" actId="27636"/>
        <pc:sldMkLst>
          <pc:docMk/>
          <pc:sldMk cId="3277307511" sldId="263"/>
        </pc:sldMkLst>
        <pc:spChg chg="mod">
          <ac:chgData name="K NEELESH" userId="beddf5e7c46d7a35" providerId="LiveId" clId="{D636C9A7-E982-4436-A96C-F1667D1B266B}" dt="2026-02-13T07:27:34.123" v="18" actId="27636"/>
          <ac:spMkLst>
            <pc:docMk/>
            <pc:sldMk cId="3277307511" sldId="263"/>
            <ac:spMk id="3" creationId="{64745376-E770-854E-8869-7D0FB138E6DE}"/>
          </ac:spMkLst>
        </pc:spChg>
      </pc:sldChg>
      <pc:sldChg chg="modSp mod">
        <pc:chgData name="K NEELESH" userId="beddf5e7c46d7a35" providerId="LiveId" clId="{D636C9A7-E982-4436-A96C-F1667D1B266B}" dt="2026-02-13T07:26:09.472" v="7" actId="27636"/>
        <pc:sldMkLst>
          <pc:docMk/>
          <pc:sldMk cId="2162316103" sldId="265"/>
        </pc:sldMkLst>
        <pc:spChg chg="mod">
          <ac:chgData name="K NEELESH" userId="beddf5e7c46d7a35" providerId="LiveId" clId="{D636C9A7-E982-4436-A96C-F1667D1B266B}" dt="2026-02-13T07:26:09.472" v="7" actId="27636"/>
          <ac:spMkLst>
            <pc:docMk/>
            <pc:sldMk cId="2162316103" sldId="265"/>
            <ac:spMk id="3" creationId="{0722E695-7DB2-B57E-45D0-9C271253FB00}"/>
          </ac:spMkLst>
        </pc:spChg>
      </pc:sldChg>
      <pc:sldChg chg="modSp mod ord">
        <pc:chgData name="K NEELESH" userId="beddf5e7c46d7a35" providerId="LiveId" clId="{D636C9A7-E982-4436-A96C-F1667D1B266B}" dt="2026-02-13T07:28:02.393" v="25"/>
        <pc:sldMkLst>
          <pc:docMk/>
          <pc:sldMk cId="2928971788" sldId="266"/>
        </pc:sldMkLst>
        <pc:spChg chg="mod">
          <ac:chgData name="K NEELESH" userId="beddf5e7c46d7a35" providerId="LiveId" clId="{D636C9A7-E982-4436-A96C-F1667D1B266B}" dt="2026-02-13T07:27:34.132" v="19" actId="27636"/>
          <ac:spMkLst>
            <pc:docMk/>
            <pc:sldMk cId="2928971788" sldId="266"/>
            <ac:spMk id="3" creationId="{D35A9E81-8AC0-BA8A-63EA-9E3609C5FFBC}"/>
          </ac:spMkLst>
        </pc:spChg>
      </pc:sldChg>
      <pc:sldChg chg="modSp">
        <pc:chgData name="K NEELESH" userId="beddf5e7c46d7a35" providerId="LiveId" clId="{D636C9A7-E982-4436-A96C-F1667D1B266B}" dt="2026-02-13T07:27:33.888" v="13"/>
        <pc:sldMkLst>
          <pc:docMk/>
          <pc:sldMk cId="3603651230" sldId="269"/>
        </pc:sldMkLst>
        <pc:spChg chg="mod">
          <ac:chgData name="K NEELESH" userId="beddf5e7c46d7a35" providerId="LiveId" clId="{D636C9A7-E982-4436-A96C-F1667D1B266B}" dt="2026-02-13T07:27:33.888" v="13"/>
          <ac:spMkLst>
            <pc:docMk/>
            <pc:sldMk cId="3603651230" sldId="269"/>
            <ac:spMk id="7" creationId="{37ACFA1E-1829-1E21-5796-B4F0B569BA3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23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48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65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30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040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61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09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1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4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267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826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2436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480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983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008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29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00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E1C9AAB-2D3C-4239-B11F-D3B566B4A45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A7298AF-596D-4BC3-9D54-34CE45AF08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839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D20C-3296-EC6A-547C-902DF229F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9492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ANALYSIS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2C1D2-8F7D-79BF-9006-95EFB14A6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94271"/>
            <a:ext cx="9144000" cy="3893574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TRIVENI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PRIYA SUBHASHRAO JADHAV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PRATEEKSHA HP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ARYA KOTHADIYA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SAKSHI BHAGWAN DOIJAD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PURNIMA GOPAL SALVANKAR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NEELESH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122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59CB-6047-C827-E78A-4AC9BE887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3593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34E7F-0096-2EE4-0870-0E419F62E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28568"/>
            <a:ext cx="9144000" cy="257113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Analyze $470M+ in total payments to identify growth drivers.​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Growth: Massive portfolio scaling from $22M (2007) to $241M (2011).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​Risk Profile: Concentration of revolving balances in Grade B borrowers.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​Verification Impact: Verified loans outperform non-verified in repayment volume.​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Dominance: California and Texas remain the primary revenue engines.​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40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ACFA1E-1829-1E21-5796-B4F0B569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F9A98-D31B-25BC-5261-3CC42F605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4" y="216310"/>
            <a:ext cx="11346426" cy="567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5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285B-306D-E9B7-08B5-14C9B0C95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4408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WISE LOAN AMOUNT STATS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9CE81-3DEB-C51F-FCB3-774F267E3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28568"/>
            <a:ext cx="9144000" cy="282923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Surge: Loan amounts grew 10x over the 5-year period.​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Stability: Consistent growth despite the 2008 global financial crisis.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​Peak Performance: 2011 represents the highest disbursement year (~$241M).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​Trend Strength: The upward curve suggests high market confidence.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61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E0DD-0FDE-A5C1-A075-FE7F8A27F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771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&amp; SUB-GRADE WISE REVOLVING BALANCE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9D67E-7572-EA20-E627-A5982BAED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62865"/>
            <a:ext cx="9144000" cy="249493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B Leadership: Holds the largest revolving balance (~$161M).​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Sub-Grade Depth: B3 is the highest-volume sub-category in the bank.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​Risk Tiering: Grades A, B, and C account for the bulk of the portfolio.​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High-Risk: Very low balances in Grades F and G (tight lending).​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Insight: Higher revolving balances correlate with mid-tier credit grades.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038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D459-3F26-E427-95B9-BCDA12393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5704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PAYMENT: VERIFIED VS. NON-VERIFIED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EFDA2-2021-E193-B6B5-493411912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9406"/>
            <a:ext cx="9144000" cy="287839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Split: Verified borrowers contribute 58.88% of total payments.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​Payment Gap: Verified payments are nearly ~$100M higher than non-verified.​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Verification status is a primary indicator of higher repayment.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​Scale: Total payments reached nearly $473M across both categories.​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Value: Verification reduces the bank's "unknown" risk variables.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148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CD5BD-49D5-F811-31DB-D46E42B52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44089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&amp; MONTH-WISE LOAN STATUS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490BC-3C89-EADC-EC18-89F9D6E62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61420"/>
            <a:ext cx="9144000" cy="220242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​CA &amp; TX Dominance: California is the largest market by a wide margin.​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Year-End Peak: Loan volumes spike every year in Q4 (October–December).​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Ratios: "Fully Paid" counts remain high even as volume grows.​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Spread: Heavy concentration on the West Coast and East Coast.​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Opportunity: December shows the highest monthly loan activity.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554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D23B-A7A3-32ED-2E90-BA070514C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167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OWNERSHIP VS. LAST PAYMENT STATS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AE9CC-32F4-C2F0-D196-AFB49B52B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4039"/>
            <a:ext cx="9144000" cy="2563761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Renter/Mortgage Split: 92% of our borrowers are Renters or Mortgage holders.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​Homeowners: Only 7% of our borrowers actually "Own" their homes.​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Recency: A huge spike in final payments occurred in late 2014.​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Stability: Renters and Mortgage holders show nearly equal payment counts.​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Insight: Our core customer is the "Working Professional" living in a rental or financed home.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7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070D-A117-4340-5A2D-940126D0A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03082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&amp; MONTH-WISE LOAN STATUS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45376-E770-854E-8869-7D0FB138E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9406"/>
            <a:ext cx="9144000" cy="273336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&amp; TX Dominance: California is the largest market by a wide margin.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​Year-End Peak: Loan volumes spike every year in Q4 (October–December).​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Ratios: "Fully Paid" counts remain high even as volume grows.​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Spread: Heavy concentration on the West Coast and East Coast.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​Seasonal Opportunity: December shows the highest monthly loan activity.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307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F7AF-D225-B8C7-29A1-FFB966BE8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570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OWNERSHIP VS. LAST PAYMENT STATS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F8124-9A3C-B8D5-8102-B9237CE5F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54710"/>
            <a:ext cx="9144000" cy="260309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Renter/Mortgage Split: 92% of our borrowers are Renters or Mortgage holders.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​Homeowners: Only 7% of our borrowers actually "Own" their homes.​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Recency: A huge spike in final payments occurred in late 2014.​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Stability: Renters and Mortgage holders show nearly equal payment counts.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​Market Insight: Our core customer is the "Working Professional" living in a rental or financed home.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62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E554-0DCF-7A19-5EF0-A34844B48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737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2E695-7DB2-B57E-45D0-9C271253F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23535"/>
            <a:ext cx="9144000" cy="2534265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Unprecedented Growth: 10x increase in loan volume from 2007 to 2011.​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is King: Verified users are significantly more profitable.​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Middle-Class Core: Our revenue is driven by Renters and Mortgage holders.​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Dependence: A significant portion of our risk is tied to the California economy.​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Tiered Risk: High revolving balances in Grade B suggest a need for interest rate optimization.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31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4E532-7B87-9339-D1D2-2E7835145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0476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A9E81-8AC0-BA8A-63EA-9E3609C5F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0245"/>
            <a:ext cx="9144000" cy="2399071"/>
          </a:xfrm>
        </p:spPr>
        <p:txBody>
          <a:bodyPr>
            <a:normAutofit fontScale="85000"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Mandatory Verification: Require verification for any loan over $15k to secure the portfolio.​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Incentivize Homeowners: Create a "Homeowner Discount" to increase that 7% segment.​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Expansion: Launch a campaign in the Midwest to reduce CA/TX concentration.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​Seasonal Staffing: Hire temporary support in Q4 to handle the December loan surge.​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B3-Specific Review: Conduct a deeper risk audit on the B3 sub-grade due to its high balance.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971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1B5B-4990-4B51-7BA2-A3D34FF9A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2076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B969B-46CE-B6E6-B2C8-59DBF15A0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9406"/>
            <a:ext cx="9144000" cy="1868129"/>
          </a:xfrm>
        </p:spPr>
        <p:txBody>
          <a:bodyPr/>
          <a:lstStyle/>
          <a:p>
            <a:r>
              <a:rPr lang="en-US" dirty="0"/>
              <a:t>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is in a strong growth phase with a high-performing "Verified" segment.​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"By shifting toward stricter verification and geographic diversity, we can maintain this growth while lowering our default risk."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39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EA95-C52B-0CCB-1D5D-737C0F3CA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2152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56151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15</TotalTime>
  <Words>842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Calisto MT</vt:lpstr>
      <vt:lpstr>Times New Roman</vt:lpstr>
      <vt:lpstr>Wingdings 2</vt:lpstr>
      <vt:lpstr>Slate</vt:lpstr>
      <vt:lpstr>BANK ANALYSIS REPORT</vt:lpstr>
      <vt:lpstr>EXECUTIVE SUMMARY</vt:lpstr>
      <vt:lpstr>PowerPoint Presentation</vt:lpstr>
      <vt:lpstr>YEAR WISE LOAN AMOUNT STATS</vt:lpstr>
      <vt:lpstr>GRADE &amp; SUB-GRADE WISE REVOLVING BALANCE</vt:lpstr>
      <vt:lpstr>TOTAL PAYMENT: VERIFIED VS. NON-VERIFIED</vt:lpstr>
      <vt:lpstr>STATE-WISE &amp; MONTH-WISE LOAN STATUS</vt:lpstr>
      <vt:lpstr>HOME OWNERSHIP VS. LAST PAYMENT STATS</vt:lpstr>
      <vt:lpstr>STATE-WISE &amp; MONTH-WISE LOAN STATUS</vt:lpstr>
      <vt:lpstr>HOME OWNERSHIP VS. LAST PAYMENT STATS</vt:lpstr>
      <vt:lpstr>KEY OBSERVATIONS</vt:lpstr>
      <vt:lpstr>SUGGESTIONS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NEELESH</dc:creator>
  <cp:lastModifiedBy>K NEELESH</cp:lastModifiedBy>
  <cp:revision>1</cp:revision>
  <dcterms:created xsi:type="dcterms:W3CDTF">2026-02-13T07:12:49Z</dcterms:created>
  <dcterms:modified xsi:type="dcterms:W3CDTF">2026-02-13T07:28:33Z</dcterms:modified>
</cp:coreProperties>
</file>